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B2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Subscription &amp; Churn Analysis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8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report: what each Power BI page tells us and what to do next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analysed: Jan 2023 to Dec 2024   |   5 report pages   |   500 customer accounts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8E3E0"/>
          </a:solidFill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$122M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5740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($10.16M MRR)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64992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8E3E0"/>
          </a:solidFill>
        </p:spPr>
      </p:sp>
      <p:sp>
        <p:nvSpPr>
          <p:cNvPr id="7" name="Text 5"/>
          <p:cNvSpPr txBox="1"/>
          <p:nvPr/>
        </p:nvSpPr>
        <p:spPr>
          <a:xfrm>
            <a:off x="3364992" y="128016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22.0%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02152" y="205740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churn rate (110 of 500)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1344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8E3E0"/>
          </a:solidFill>
        </p:spPr>
      </p:sp>
      <p:sp>
        <p:nvSpPr>
          <p:cNvPr id="10" name="Text 8"/>
          <p:cNvSpPr txBox="1"/>
          <p:nvPr/>
        </p:nvSpPr>
        <p:spPr>
          <a:xfrm>
            <a:off x="6181344" y="128016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$4.66M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18504" y="205740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flagged at risk (226 accounts)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97696" y="118872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8E3E0"/>
          </a:solidFill>
        </p:spPr>
      </p:sp>
      <p:sp>
        <p:nvSpPr>
          <p:cNvPr id="13" name="Text 11"/>
          <p:cNvSpPr txBox="1"/>
          <p:nvPr/>
        </p:nvSpPr>
        <p:spPr>
          <a:xfrm>
            <a:off x="8997696" y="1280160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: 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34856" y="2057400"/>
            <a:ext cx="2377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to downgrades (529 vs 218)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6B252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292608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strong but new-logo driven.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climbed from near zero to about $10.2M in 24 months; new MRR ($11.34M) is 9x expansion ($1.26M).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6B252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7490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the main threat.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accounts churned and monthly churn events reached about 95 by Dec 2024. Product features, support and budget lead the stated reasons.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6B252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457200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concentrated by industry, not plan.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~22% on every plan, but DevTools churns at 31% versus about 16% for Cybersecurity and EdTech.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rgbClr val="6B252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39496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and feedback gaps limit insight. 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rates sit at 5.6% to 6.6% on top features, and 41% of support tickets have no satisfaction response.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Overview: business questions answered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45720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business healthy and how large is the recurring revenue base?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$10.16M MRR ($122M ARR) across 500 accounts, about $20.3K MRR per account; 22% churn.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trend by month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recurring revenue growing, and is growth accelerating?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rises from near $0 (Jan 2023) to about $10.2M (Dec 2024), with the steepest steps in the last six months.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by plan tier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plan tier contributes the most revenue?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$3.7M, Pro $3.5M, Enterprise $2.9M (see data checks: the Plan Performance table splits differently).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by industry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verticals drive revenue and is there concentration?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FinTech $2.42M (24%), DevTools $2.17M, Cybersecurity $1.97M, EdTech $1.84M, HealthTech $1.76M.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rate by plan tier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a particular tier lose customers faster?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72.5%, Enterprise 70.1%, Basic 68.5%: tiers are close, so tier alone does not explain churn.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plan, country slicers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story hold for a given period, tier or market?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Lets leaders test any KPI by window (1 Jan 2023 to 31 Dec 2024), plan tier and country.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548640" y="6053328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6B2528"/>
          </a:solidFill>
        </p:spPr>
      </p:sp>
      <p:sp>
        <p:nvSpPr>
          <p:cNvPr id="5" name="Text 2"/>
          <p:cNvSpPr txBox="1"/>
          <p:nvPr/>
        </p:nvSpPr>
        <p:spPr>
          <a:xfrm>
            <a:off x="731520" y="605332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CFO, Board and investors, Head of Strategy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Overview: key findings and actions</a:t>
            </a:r>
            <a:endParaRPr lang="en-US" sz="2800" dirty="0"/>
          </a:p>
        </p:txBody>
      </p:sp>
      <p:pic>
        <p:nvPicPr>
          <p:cNvPr id="3" name="Executive Overview screenshot" descr="/mnt/user-data/uploads/Screenshot_2026-10-06_at_16_43_2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486400" cy="3977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11887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5" name="Text 2"/>
          <p:cNvSpPr txBox="1"/>
          <p:nvPr/>
        </p:nvSpPr>
        <p:spPr>
          <a:xfrm>
            <a:off x="6446520" y="11887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Hockey-stick revenue growth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reached about $10.2M, and the final month alone added the largest single step on the trend.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309360" y="25603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7" name="Text 4"/>
          <p:cNvSpPr txBox="1"/>
          <p:nvPr/>
        </p:nvSpPr>
        <p:spPr>
          <a:xfrm>
            <a:off x="6446520" y="25603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diversified by industry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vertical exceeds 24% of MRR; FinTech and DevTools together are about 45%.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39319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9" name="Text 6"/>
          <p:cNvSpPr txBox="1"/>
          <p:nvPr/>
        </p:nvSpPr>
        <p:spPr>
          <a:xfrm>
            <a:off x="6446520" y="39319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churn is material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of 500 accounts churned. Note "Active Customer Accounts" shows 500, equal to total accounts, so label and definition need a check.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6B2528"/>
          </a:solidFill>
        </p:spPr>
      </p:sp>
      <p:sp>
        <p:nvSpPr>
          <p:cNvPr id="11" name="Text 8"/>
          <p:cNvSpPr txBox="1"/>
          <p:nvPr/>
        </p:nvSpPr>
        <p:spPr>
          <a:xfrm>
            <a:off x="777240" y="544068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MRR, ARR and churn together in every board pack, agree one churn definition, and set a target churn rate for 2025.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&amp; Revenue: business questions answered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45720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revenue is gained and lost in the period?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MRR $10.16M, new $11.34M, expansion $1.26M, churned $1.18M.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&amp; monthly revenue movement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net MRR movement growing month to month?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monthly movement grows from near zero to about $2M by Dec 2024; Active MRR steps up with it.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MRR by plan tier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MRR split across tiers?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$3.7M, Pro $3.5M, Enterprise $2.9M as charted.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 movement drivers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drives MRR change: new, expansion, contraction or churn?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+$11.3M, expansion +$1.3M, contraction -$0.5M, churn -$1.2M.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Upgrades vs downgrades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customers trading up or down?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529 upgrades versus 218 downgrades, about 2.4 upgrades per downgrade.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performance table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plan has the best accounts, ARPU, churn and plan movement?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Enterprise: $7.55M MRR, $15.1K ARPU, 194 upgrades. Pro has the most downgrades (90). Plan churn is 70.9% to 71.6%.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6053328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6B2528"/>
          </a:solidFill>
        </p:spPr>
      </p:sp>
      <p:sp>
        <p:nvSpPr>
          <p:cNvPr id="5" name="Text 2"/>
          <p:cNvSpPr txBox="1"/>
          <p:nvPr/>
        </p:nvSpPr>
        <p:spPr>
          <a:xfrm>
            <a:off x="731520" y="605332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CFO, Finance and RevOps, Pricing and Product Marketing, Head of Sales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&amp; Revenue: key findings and actions</a:t>
            </a:r>
            <a:endParaRPr lang="en-US" sz="2800" dirty="0"/>
          </a:p>
        </p:txBody>
      </p:sp>
      <p:pic>
        <p:nvPicPr>
          <p:cNvPr id="3" name="Subscription &amp; Revenue screenshot" descr="/mnt/user-data/uploads/Screenshot_2026-10-06_at_16_43_3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486400" cy="3977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11887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5" name="Text 2"/>
          <p:cNvSpPr txBox="1"/>
          <p:nvPr/>
        </p:nvSpPr>
        <p:spPr>
          <a:xfrm>
            <a:off x="6446520" y="11887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new-logo driven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MRR is 9x expansion MRR, and expansion ($1.26M) barely covers churned MRR ($1.18M), so the installed base is not growing itself.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309360" y="25603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7" name="Text 4"/>
          <p:cNvSpPr txBox="1"/>
          <p:nvPr/>
        </p:nvSpPr>
        <p:spPr>
          <a:xfrm>
            <a:off x="6446520" y="25603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outpace downgrades, but Pro leaks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has the best ratio (194 up, 68 down); Pro is weakest with 90 downgrades against 194 upgrades.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39319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9" name="Text 6"/>
          <p:cNvSpPr txBox="1"/>
          <p:nvPr/>
        </p:nvSpPr>
        <p:spPr>
          <a:xfrm>
            <a:off x="6446520" y="39319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carries the revenue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table puts Enterprise at $7.55M, about 74% of Active MRR, so its health drives the forecast.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6B2528"/>
          </a:solidFill>
        </p:spPr>
      </p:sp>
      <p:sp>
        <p:nvSpPr>
          <p:cNvPr id="11" name="Text 8"/>
          <p:cNvSpPr txBox="1"/>
          <p:nvPr/>
        </p:nvSpPr>
        <p:spPr>
          <a:xfrm>
            <a:off x="777240" y="544068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net and gross revenue retention metrics, launch an expansion playbook for existing accounts, and review Pro packaging to reduce downgrades.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&amp; Churn: business questions answered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45720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big is churn in accounts and dollars, and can we win customers back?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churned accounts, $1.18M churned MRR ($1.97K average), reactivation only 10.17%.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customer churn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does churn happen and is it worsening?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10 events a month for most of 2023, rising to about 95 in Dec 2024 after a sharp final-month jump.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customers churn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reasons do customers give?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114, budget 104, support 104, unknown 95, competitor 92, pricing 91.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MRR by churn reason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reasons cost the most revenue?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$2.1M, support $1.9M, budget $1.8M, unknown $1.7M, pricing and competitor $1.6M each.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Churned customers by industry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industries lose the most customers?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DevTools 83, FinTech 76, Cybersecurity 72, HealthTech 64, EdTech 57.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rate by plan tier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plan tier drive churn?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22.1%, Basic 22.0%, Pro 21.9%: effectively flat.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Churned customers by country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are lost customers located?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bubbles in North America, then Western Europe and India.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6053328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6B2528"/>
          </a:solidFill>
        </p:spPr>
      </p:sp>
      <p:sp>
        <p:nvSpPr>
          <p:cNvPr id="5" name="Text 2"/>
          <p:cNvSpPr txBox="1"/>
          <p:nvPr/>
        </p:nvSpPr>
        <p:spPr>
          <a:xfrm>
            <a:off x="731520" y="605332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Customer Success, Retention team, Product Management, Sales leadership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&amp; Churn: key findings and actions</a:t>
            </a:r>
            <a:endParaRPr lang="en-US" sz="2800" dirty="0"/>
          </a:p>
        </p:txBody>
      </p:sp>
      <p:pic>
        <p:nvPicPr>
          <p:cNvPr id="3" name="Retention &amp; Churn screenshot" descr="/mnt/user-data/uploads/Screenshot_2026-10-06_at_16_43_4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486400" cy="3977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11887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5" name="Text 2"/>
          <p:cNvSpPr txBox="1"/>
          <p:nvPr/>
        </p:nvSpPr>
        <p:spPr>
          <a:xfrm>
            <a:off x="6446520" y="11887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rises with the customer base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events grew from single digits to about 95; a cohort view is needed to separate scale from real deterioration.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309360" y="25603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7" name="Text 4"/>
          <p:cNvSpPr txBox="1"/>
          <p:nvPr/>
        </p:nvSpPr>
        <p:spPr>
          <a:xfrm>
            <a:off x="6446520" y="25603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dominant cause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reason is only 19% of 600 events. Features and support, the controllable ones, account for 36%; "unknown" is 16%.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39319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9" name="Text 6"/>
          <p:cNvSpPr txBox="1"/>
          <p:nvPr/>
        </p:nvSpPr>
        <p:spPr>
          <a:xfrm>
            <a:off x="6446520" y="39319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not plan, is the lever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churn is flat at about 22%, while industry rates range from 16% to 31% (see Segmentation page).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6B2528"/>
          </a:solidFill>
        </p:spPr>
      </p:sp>
      <p:sp>
        <p:nvSpPr>
          <p:cNvPr id="11" name="Text 8"/>
          <p:cNvSpPr txBox="1"/>
          <p:nvPr/>
        </p:nvSpPr>
        <p:spPr>
          <a:xfrm>
            <a:off x="777240" y="544068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exit reasons mandatory, launch a DevTools retention program, and build a win-back flow aimed at lifting the 10% reactivation rate.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Engagement: business questions answered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45720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is the product used, how reliable, and how well supported?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25,000 usage events, 251K total usage count, 5.63% error rate, 2,000 tickets, 4.0 satisfaction.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usage count (top 10)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features do customers rely on most?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feature_32 leads at 6.7K; the next nine sit at 6.5K to 6.6K, so usage is evenly spread.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error rate (top 10)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features fail most often?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feature_4 6.56%, feature_9 6.51%, feature_26 6.45%, all above the 5.63% average.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tickets by satisfaction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customers rate support interactions?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825 no response (41%), 779 high, 396 neutral.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feature usage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usage happens on beta features?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10.18% of 25K usage events are on beta features.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ticket severity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tickets are severe?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4.75% flagged true, roughly 95 of 2,000 tickets.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6053328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6B2528"/>
          </a:solidFill>
        </p:spPr>
      </p:sp>
      <p:sp>
        <p:nvSpPr>
          <p:cNvPr id="5" name="Text 2"/>
          <p:cNvSpPr txBox="1"/>
          <p:nvPr/>
        </p:nvSpPr>
        <p:spPr>
          <a:xfrm>
            <a:off x="731520" y="605332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Product Officer, Product Managers, Engineering and QA, Head of Support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Engagement: key findings and actions</a:t>
            </a:r>
            <a:endParaRPr lang="en-US" sz="2800" dirty="0"/>
          </a:p>
        </p:txBody>
      </p:sp>
      <p:pic>
        <p:nvPicPr>
          <p:cNvPr id="3" name="Product Engagement screenshot" descr="/mnt/user-data/uploads/Screenshot_2026-10-06_at_16_43_5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486400" cy="3977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11887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5" name="Text 2"/>
          <p:cNvSpPr txBox="1"/>
          <p:nvPr/>
        </p:nvSpPr>
        <p:spPr>
          <a:xfrm>
            <a:off x="6446520" y="11887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hot-spots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feature_26 and feature_34 appear in both the top-10 usage and top-10 error lists: high traffic and error-prone, so fix first.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309360" y="25603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7" name="Text 4"/>
          <p:cNvSpPr txBox="1"/>
          <p:nvPr/>
        </p:nvSpPr>
        <p:spPr>
          <a:xfrm>
            <a:off x="6446520" y="25603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is under-measured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41% of tickets unanswered, the 4.0 average reflects only responders and may overstate sentiment.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39319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9" name="Text 6"/>
          <p:cNvSpPr txBox="1"/>
          <p:nvPr/>
        </p:nvSpPr>
        <p:spPr>
          <a:xfrm>
            <a:off x="6446520" y="39319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and quality link to churn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the #1 churn reason (114), and about 1 in 10 usage events is on beta; track stability by cohort.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6B2528"/>
          </a:solidFill>
        </p:spPr>
      </p:sp>
      <p:sp>
        <p:nvSpPr>
          <p:cNvPr id="11" name="Text 8"/>
          <p:cNvSpPr txBox="1"/>
          <p:nvPr/>
        </p:nvSpPr>
        <p:spPr>
          <a:xfrm>
            <a:off x="777240" y="544068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error targets for feature_4, 9 and 26, raise survey response rates, and join feature errors to churned accounts.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Segmentation: business questions answered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48640" y="114300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023360"/>
                <a:gridCol w="457200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shows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cards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revenue is exposed and how satisfied are customers?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MRR $11.34M, at-risk MRR $4.66M (41%), ARPU $20.32K, satisfaction 4.0.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value segmentation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the base split by value tier?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81.8%, Mid 10.8%, Low 7.4% of 500 accounts.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value customers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are the key accounts to protect?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range from $71K to $138K MRR, about $0.97M combined (roughly 8.5% of Customer MRR).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risk by plan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tiers hold the most at-risk accounts?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vs normal: Pro 83/95, Basic 70/98, Enterprise 73/81; 226 of 500 at risk.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health by industry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industries are healthiest?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Churn: DevTools 31.0%, FinTech 22.3%, HealthTech 21.9%, EdTech 16.5%, Cybersecurity 16.0%; satisfaction 4.0 everywhere.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 vs MRR scatter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usage predict revenue and risk?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but loose link; low-value accounts cluster at low usage, and some $80K+ accounts show only moderate usage.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6053328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6B2528"/>
          </a:solidFill>
        </p:spPr>
      </p:sp>
      <p:sp>
        <p:nvSpPr>
          <p:cNvPr id="5" name="Text 2"/>
          <p:cNvSpPr txBox="1"/>
          <p:nvPr/>
        </p:nvSpPr>
        <p:spPr>
          <a:xfrm>
            <a:off x="731520" y="605332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Managers, Account Management and Sales, RevOps and Marketing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Segmentation: key findings and actions</a:t>
            </a:r>
            <a:endParaRPr lang="en-US" sz="2800" dirty="0"/>
          </a:p>
        </p:txBody>
      </p:sp>
      <p:pic>
        <p:nvPicPr>
          <p:cNvPr id="3" name="Customer Segmentation screenshot" descr="/mnt/user-data/uploads/Screenshot_2026-10-06_at_16_44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486400" cy="3977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309360" y="11887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5" name="Text 2"/>
          <p:cNvSpPr txBox="1"/>
          <p:nvPr/>
        </p:nvSpPr>
        <p:spPr>
          <a:xfrm>
            <a:off x="6446520" y="11887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is large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accounts (45%) and $4.66M MRR are at risk. Enterprise has the highest at-risk share (47%), Basic the lowest (42%).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309360" y="25603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7" name="Text 4"/>
          <p:cNvSpPr txBox="1"/>
          <p:nvPr/>
        </p:nvSpPr>
        <p:spPr>
          <a:xfrm>
            <a:off x="6446520" y="25603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is the pressure point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churn, nearly double Cybersecurity and EdTech, despite the highest usage per account (about 508) and the same 4.0 satisfaction.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39319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8E3E0"/>
          </a:solidFill>
        </p:spPr>
      </p:sp>
      <p:sp>
        <p:nvSpPr>
          <p:cNvPr id="9" name="Text 6"/>
          <p:cNvSpPr txBox="1"/>
          <p:nvPr/>
        </p:nvSpPr>
        <p:spPr>
          <a:xfrm>
            <a:off x="6446520" y="3931920"/>
            <a:ext cx="50292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2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are too loose to prioritise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82% labelled High Value, tiers do not focus effort. Revenue concentration is low, as the top 10 hold only about 8.5%.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44068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6B2528"/>
          </a:solidFill>
        </p:spPr>
      </p:sp>
      <p:sp>
        <p:nvSpPr>
          <p:cNvPr id="11" name="Text 8"/>
          <p:cNvSpPr txBox="1"/>
          <p:nvPr/>
        </p:nvSpPr>
        <p:spPr>
          <a:xfrm>
            <a:off x="777240" y="5440680"/>
            <a:ext cx="10607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save plans to the 226 at-risk accounts ranked by MRR, deep-dive DevTools, and recalibrate value thresholds.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scenarios and who owns them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4023360"/>
                <a:gridCol w="2011680"/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across pages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4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52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 growth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new-logo growth keep funding the business?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MRR $11.34M vs expansion $1.26M; MRR about $10.2M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CEO, CFO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churn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should retention spend go first?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 churn; DevTools 31%; features and support 36% of events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Customer Success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and packaging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the plan tiers set up correctly?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has most downgrades; churn flat by tier; Enterprise about 74% of MRR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Pricing, Product Marketing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quality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errors and missing features drive churn?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5.63% error rate; features top churn reason; feature_26 and 34 hot-spots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CPO, Engineering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risk and expansion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accounts do we protect or grow?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$4.66M at-risk MRR; 226 accounts; top 10 only 8.5% of MRR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Sales, Account Management</a:t>
                      </a:r>
                      <a:endParaRPr lang="en-US" sz="130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3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25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1188720"/>
            <a:ext cx="4206240" cy="5029200"/>
          </a:xfrm>
          <a:prstGeom prst="roundRect">
            <a:avLst>
              <a:gd name="adj" fmla="val 2174"/>
            </a:avLst>
          </a:prstGeom>
          <a:solidFill>
            <a:srgbClr val="6B2528"/>
          </a:solidFill>
        </p:spPr>
      </p:sp>
      <p:sp>
        <p:nvSpPr>
          <p:cNvPr id="6" name="Text 4"/>
          <p:cNvSpPr txBox="1"/>
          <p:nvPr/>
        </p:nvSpPr>
        <p:spPr>
          <a:xfrm>
            <a:off x="3886200" y="1325880"/>
            <a:ext cx="3749040" cy="4754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E4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metric definitions and fix measures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NRR, GRR and cohort retention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each page with its owner and agree one action per page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progress monthly against churn and at-risk MRR targets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10455</Words>
  <Application>WPS Presentation</Application>
  <PresentationFormat>On-screen Show (16:9)</PresentationFormat>
  <Paragraphs>399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Cambria</vt:lpstr>
      <vt:lpstr>苹方-简</vt:lpstr>
      <vt:lpstr>Cambria</vt:lpstr>
      <vt:lpstr>Cambria</vt:lpstr>
      <vt:lpstr>Calibri</vt:lpstr>
      <vt:lpstr>Calibri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Samuel Sholademi</cp:lastModifiedBy>
  <cp:revision>2</cp:revision>
  <dcterms:created xsi:type="dcterms:W3CDTF">2026-10-06T15:57:10Z</dcterms:created>
  <dcterms:modified xsi:type="dcterms:W3CDTF">2026-10-06T15:57:10Z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311569BCF2E1FD52561AC56A8A39DABB_42</vt:lpwstr>
  </property>
  <property fmtid="{D5CDD505-2E9C-101B-9397-08002B2CF9AE}" pid="3" name="KSOProductBuildVer">
    <vt:lpwstr>1033-12.1.25880.25880</vt:lpwstr>
  </property>
</Properties>
</file>